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56" r:id="rId5"/>
    <p:sldId id="257" r:id="rId6"/>
    <p:sldId id="260" r:id="rId7"/>
    <p:sldId id="258" r:id="rId8"/>
    <p:sldId id="261" r:id="rId9"/>
    <p:sldId id="286" r:id="rId10"/>
    <p:sldId id="287" r:id="rId11"/>
    <p:sldId id="288" r:id="rId12"/>
    <p:sldId id="289" r:id="rId13"/>
    <p:sldId id="290" r:id="rId14"/>
    <p:sldId id="283" r:id="rId15"/>
    <p:sldId id="26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3350"/>
    <a:srgbClr val="0C4360"/>
    <a:srgbClr val="1B6872"/>
    <a:srgbClr val="63B7C6"/>
    <a:srgbClr val="002136"/>
    <a:srgbClr val="0C75AC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83" d="100"/>
          <a:sy n="83" d="100"/>
        </p:scale>
        <p:origin x="858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5457B-CDAE-4DEB-AEC8-C82DE2312E37}" type="datetimeFigureOut">
              <a:rPr lang="en-US" smtClean="0"/>
              <a:t>10/17/2025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430A-4AA4-45C8-AC23-CD6B61C41A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B78EA-28CE-41D8-9043-90E391E5F567}" type="datetimeFigureOut">
              <a:rPr lang="en-US" noProof="0" smtClean="0"/>
              <a:t>10/17/2025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4D747-9380-41EE-9946-EC9EC0CA5D1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4" name="Freeform: Shape 12">
                <a:extLst>
                  <a:ext uri="{FF2B5EF4-FFF2-40B4-BE49-F238E27FC236}">
                    <a16:creationId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4744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atego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Freeform: Shape 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Freeform: Shape 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7">
            <a:extLst>
              <a:ext uri="{FF2B5EF4-FFF2-40B4-BE49-F238E27FC236}">
                <a16:creationId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+mj-lt"/>
              </a:rPr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5">
              <a:extLst>
                <a:ext uri="{FF2B5EF4-FFF2-40B4-BE49-F238E27FC236}">
                  <a16:creationId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Freeform: Shape 16">
              <a:extLst>
                <a:ext uri="{FF2B5EF4-FFF2-40B4-BE49-F238E27FC236}">
                  <a16:creationId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8">
              <a:extLst>
                <a:ext uri="{FF2B5EF4-FFF2-40B4-BE49-F238E27FC236}">
                  <a16:creationId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7" name="Rectangle: Single Corner Snipped 2">
              <a:extLst>
                <a:ext uri="{FF2B5EF4-FFF2-40B4-BE49-F238E27FC236}">
                  <a16:creationId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8" name="Freeform: Shape 23">
            <a:extLst>
              <a:ext uri="{FF2B5EF4-FFF2-40B4-BE49-F238E27FC236}">
                <a16:creationId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7" r:id="rId7"/>
    <p:sldLayoutId id="2147483674" r:id="rId8"/>
    <p:sldLayoutId id="2147483665" r:id="rId9"/>
    <p:sldLayoutId id="2147483673" r:id="rId10"/>
    <p:sldLayoutId id="2147483662" r:id="rId11"/>
    <p:sldLayoutId id="2147483663" r:id="rId12"/>
    <p:sldLayoutId id="2147483664" r:id="rId13"/>
    <p:sldLayoutId id="2147483675" r:id="rId14"/>
    <p:sldLayoutId id="2147483676" r:id="rId15"/>
    <p:sldLayoutId id="2147483672" r:id="rId16"/>
    <p:sldLayoutId id="2147483667" r:id="rId17"/>
    <p:sldLayoutId id="2147483668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82817" y="1086678"/>
            <a:ext cx="7209183" cy="2634930"/>
          </a:xfrm>
        </p:spPr>
        <p:txBody>
          <a:bodyPr/>
          <a:lstStyle/>
          <a:p>
            <a:pPr algn="r"/>
            <a:r>
              <a:rPr lang="en-US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CAPSTONE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537F64-4C96-4AA8-BB21-E8053A3186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82817" y="3721608"/>
            <a:ext cx="7077456" cy="868680"/>
          </a:xfrm>
        </p:spPr>
        <p:txBody>
          <a:bodyPr>
            <a:normAutofit/>
          </a:bodyPr>
          <a:lstStyle/>
          <a:p>
            <a:pPr marL="0" indent="0" algn="r">
              <a:buNone/>
            </a:pPr>
            <a:r>
              <a:rPr lang="en-US" sz="4400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DATA SCIENCE</a:t>
            </a:r>
          </a:p>
        </p:txBody>
      </p:sp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24BF10-2B55-43AB-9F77-F1A14103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22832E-B5A9-445C-F6CE-C7CF8404BE6F}"/>
              </a:ext>
            </a:extLst>
          </p:cNvPr>
          <p:cNvSpPr txBox="1"/>
          <p:nvPr/>
        </p:nvSpPr>
        <p:spPr>
          <a:xfrm>
            <a:off x="1616765" y="1510748"/>
            <a:ext cx="10041835" cy="5575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>
                    <a:lumMod val="95000"/>
                  </a:schemeClr>
                </a:solidFill>
              </a:rPr>
              <a:t>The aim of this project is to extract mobile phone data from Flipkart and prepare it for meaningful analysis.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>
                    <a:lumMod val="95000"/>
                  </a:schemeClr>
                </a:solidFill>
              </a:rPr>
              <a:t>The data undergoes cleaning and preprocessing to ensure reliability and consistency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>
                    <a:lumMod val="95000"/>
                  </a:schemeClr>
                </a:solidFill>
              </a:rPr>
              <a:t>Statistical analysis and hypothesis testing are performed to uncover key insights.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>
                    <a:lumMod val="95000"/>
                  </a:schemeClr>
                </a:solidFill>
              </a:rPr>
              <a:t>Supervised and unsupervised machine learning techniques are applied to predict outcomes and identify patterns.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>
                    <a:lumMod val="95000"/>
                  </a:schemeClr>
                </a:solidFill>
              </a:rPr>
              <a:t>Finally, hyperparameter tuning is carried out to enhance model accuracy and performance.</a:t>
            </a:r>
            <a:br>
              <a:rPr lang="en-US" sz="2000" dirty="0">
                <a:solidFill>
                  <a:schemeClr val="bg1">
                    <a:lumMod val="95000"/>
                  </a:schemeClr>
                </a:solidFill>
              </a:rPr>
            </a:br>
            <a:br>
              <a:rPr lang="en-US" sz="2000" dirty="0"/>
            </a:br>
            <a:br>
              <a:rPr lang="en-US" sz="2000" dirty="0"/>
            </a:br>
            <a:endParaRPr lang="en-IN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1211A7-3DE9-51D2-973B-128D1EC91FF3}"/>
              </a:ext>
            </a:extLst>
          </p:cNvPr>
          <p:cNvSpPr txBox="1"/>
          <p:nvPr/>
        </p:nvSpPr>
        <p:spPr>
          <a:xfrm>
            <a:off x="2703444" y="251791"/>
            <a:ext cx="83621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n w="10160">
                  <a:solidFill>
                    <a:srgbClr val="FFFF00"/>
                  </a:solidFill>
                  <a:prstDash val="solid"/>
                </a:ln>
                <a:solidFill>
                  <a:schemeClr val="accent2"/>
                </a:solidFill>
                <a:effectLst>
                  <a:glow rad="139700">
                    <a:schemeClr val="accent2">
                      <a:satMod val="175000"/>
                      <a:alpha val="40000"/>
                    </a:schemeClr>
                  </a:glow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</a:rPr>
              <a:t>Objective of the project</a:t>
            </a:r>
            <a:endParaRPr lang="en-IN" sz="4800" b="1" dirty="0">
              <a:ln w="10160">
                <a:solidFill>
                  <a:srgbClr val="FFFF00"/>
                </a:solidFill>
                <a:prstDash val="solid"/>
              </a:ln>
              <a:solidFill>
                <a:schemeClr val="accent2"/>
              </a:solidFill>
              <a:effectLst>
                <a:glow rad="139700">
                  <a:schemeClr val="accent2">
                    <a:satMod val="175000"/>
                    <a:alpha val="40000"/>
                  </a:schemeClr>
                </a:glow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2794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065C75-272B-4BB5-BA23-D80E8654D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49A3D8-BB1C-E570-B0E8-0025DD7C7C64}"/>
              </a:ext>
            </a:extLst>
          </p:cNvPr>
          <p:cNvSpPr txBox="1"/>
          <p:nvPr/>
        </p:nvSpPr>
        <p:spPr>
          <a:xfrm>
            <a:off x="3180522" y="118862"/>
            <a:ext cx="63610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ln>
                  <a:solidFill>
                    <a:srgbClr val="FFFF00"/>
                  </a:solidFill>
                </a:ln>
                <a:solidFill>
                  <a:schemeClr val="accent2"/>
                </a:solidFill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  <a:latin typeface="Arial Black" panose="020B0A04020102020204" pitchFamily="34" charset="0"/>
              </a:rPr>
              <a:t>Web Scraping</a:t>
            </a:r>
            <a:endParaRPr lang="en-IN" sz="4400" dirty="0">
              <a:ln>
                <a:solidFill>
                  <a:srgbClr val="FFFF00"/>
                </a:solidFill>
              </a:ln>
              <a:solidFill>
                <a:schemeClr val="accent2"/>
              </a:solidFill>
              <a:effectLst>
                <a:glow rad="228600">
                  <a:schemeClr val="accent2">
                    <a:satMod val="175000"/>
                    <a:alpha val="40000"/>
                  </a:schemeClr>
                </a:glow>
              </a:effectLst>
              <a:latin typeface="Arial Black" panose="020B0A040201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FF12A9-300F-5204-E3AF-C01B7AF698F2}"/>
              </a:ext>
            </a:extLst>
          </p:cNvPr>
          <p:cNvSpPr txBox="1"/>
          <p:nvPr/>
        </p:nvSpPr>
        <p:spPr>
          <a:xfrm>
            <a:off x="561860" y="1123720"/>
            <a:ext cx="105321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</a:rPr>
              <a:t>Performed web scraping by using python libraries such as beautiful soup scraped the mobile data from Flipkart.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</a:rPr>
              <a:t>Scraped 10 pages . Having 5 columns and 668 rows and I have saved it as CSV file.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435E6ED-927D-D4A6-6FEA-D73BE10605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6131" y="2615585"/>
            <a:ext cx="3678410" cy="369949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8B1B077-DC9F-33CF-51A4-0BBE050D79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3878" y="3259635"/>
            <a:ext cx="5874722" cy="2369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828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CBF214-ECB4-C710-AE0A-E93B6FF1D551}"/>
              </a:ext>
            </a:extLst>
          </p:cNvPr>
          <p:cNvSpPr txBox="1"/>
          <p:nvPr/>
        </p:nvSpPr>
        <p:spPr>
          <a:xfrm>
            <a:off x="892366" y="110168"/>
            <a:ext cx="59601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n>
                  <a:solidFill>
                    <a:srgbClr val="FFFF00"/>
                  </a:solidFill>
                </a:ln>
                <a:solidFill>
                  <a:schemeClr val="accent2"/>
                </a:solidFill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  <a:latin typeface="Arial Black" panose="020B0A04020102020204" pitchFamily="34" charset="0"/>
              </a:rPr>
              <a:t>DATA CLEANING</a:t>
            </a:r>
            <a:endParaRPr lang="en-IN" sz="4800" dirty="0">
              <a:ln>
                <a:solidFill>
                  <a:srgbClr val="FFFF00"/>
                </a:solidFill>
              </a:ln>
              <a:solidFill>
                <a:schemeClr val="accent2"/>
              </a:solidFill>
              <a:effectLst>
                <a:glow rad="228600">
                  <a:schemeClr val="accent2">
                    <a:satMod val="175000"/>
                    <a:alpha val="40000"/>
                  </a:schemeClr>
                </a:glow>
              </a:effectLst>
              <a:latin typeface="Arial Black" panose="020B0A040201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2182D3-81CD-5F2B-992B-0E6EB7E9BD85}"/>
              </a:ext>
            </a:extLst>
          </p:cNvPr>
          <p:cNvSpPr txBox="1"/>
          <p:nvPr/>
        </p:nvSpPr>
        <p:spPr>
          <a:xfrm>
            <a:off x="716096" y="1090670"/>
            <a:ext cx="718299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Performed data cleaning process before Analysis.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Removed unknown and 0 values.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Removed currency symbol and standardize the formats.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Removed duplicates.</a:t>
            </a:r>
          </a:p>
          <a:p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DAFD01F-0B1C-FF50-6D45-B2BFD76FAF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639" y="2806289"/>
            <a:ext cx="6661742" cy="142418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A121A16-A451-BC77-6762-2F904554B5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639" y="4682829"/>
            <a:ext cx="6835426" cy="126326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E84BBE8-9EEF-49A1-5430-3D678746F9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9094" y="3034190"/>
            <a:ext cx="3650767" cy="1736444"/>
          </a:xfrm>
          <a:prstGeom prst="rect">
            <a:avLst/>
          </a:prstGeom>
        </p:spPr>
      </p:pic>
      <p:sp>
        <p:nvSpPr>
          <p:cNvPr id="17" name="Arrow: Down 16">
            <a:extLst>
              <a:ext uri="{FF2B5EF4-FFF2-40B4-BE49-F238E27FC236}">
                <a16:creationId xmlns:a16="http://schemas.microsoft.com/office/drawing/2014/main" id="{FC1D951C-2F9D-5C77-5E05-1F6F1362601D}"/>
              </a:ext>
            </a:extLst>
          </p:cNvPr>
          <p:cNvSpPr/>
          <p:nvPr/>
        </p:nvSpPr>
        <p:spPr>
          <a:xfrm>
            <a:off x="3404212" y="4417764"/>
            <a:ext cx="198304" cy="165253"/>
          </a:xfrm>
          <a:prstGeom prst="down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486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0FC4EE-F318-4344-9E3C-B950ADB63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4652493-323F-938E-CE40-F4A470C2F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pc="0" dirty="0">
                <a:ln w="22225">
                  <a:solidFill>
                    <a:srgbClr val="FFFF00"/>
                  </a:solidFill>
                  <a:prstDash val="solid"/>
                </a:ln>
                <a:solidFill>
                  <a:schemeClr val="accent2"/>
                </a:solidFill>
                <a:latin typeface="Arial Black" panose="020B0A04020102020204" pitchFamily="34" charset="0"/>
              </a:rPr>
              <a:t>Removed Outliers</a:t>
            </a:r>
            <a:endParaRPr lang="en-IN" spc="0" dirty="0">
              <a:ln w="22225">
                <a:solidFill>
                  <a:srgbClr val="FFFF00"/>
                </a:solidFill>
                <a:prstDash val="solid"/>
              </a:ln>
              <a:solidFill>
                <a:schemeClr val="accent2"/>
              </a:solidFill>
              <a:latin typeface="Arial Black" panose="020B0A04020102020204" pitchFamily="34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6D880DE-34C9-28A7-A77D-8CD181B940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155" y="1253983"/>
            <a:ext cx="7337235" cy="252903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13D021A-4312-1777-5389-C74EBEA7CE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6077" y="4098700"/>
            <a:ext cx="7507184" cy="2485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270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34D9120-9A71-EFE8-1D21-E34A3D02D18C}"/>
              </a:ext>
            </a:extLst>
          </p:cNvPr>
          <p:cNvSpPr txBox="1"/>
          <p:nvPr/>
        </p:nvSpPr>
        <p:spPr>
          <a:xfrm>
            <a:off x="2754217" y="278042"/>
            <a:ext cx="842790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ln>
                  <a:solidFill>
                    <a:srgbClr val="FFFF00"/>
                  </a:solidFill>
                </a:ln>
                <a:solidFill>
                  <a:schemeClr val="accent2"/>
                </a:solidFill>
                <a:latin typeface="Arial Black" panose="020B0A04020102020204" pitchFamily="34" charset="0"/>
              </a:rPr>
              <a:t>Statistical Analysis </a:t>
            </a:r>
            <a:endParaRPr lang="en-IN" sz="4400" dirty="0">
              <a:ln>
                <a:solidFill>
                  <a:srgbClr val="FFFF00"/>
                </a:solidFill>
              </a:ln>
              <a:solidFill>
                <a:schemeClr val="accent2"/>
              </a:solidFill>
              <a:latin typeface="Arial Black" panose="020B0A040201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CD9960-623A-624D-B4E2-E25A20E0C7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329" y="1418230"/>
            <a:ext cx="3982006" cy="274358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333FEDA-409D-6B04-D020-6C2828FF13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2351" y="1255798"/>
            <a:ext cx="5526847" cy="309586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51AD6A2-902C-D968-5E07-C10682DB6B58}"/>
              </a:ext>
            </a:extLst>
          </p:cNvPr>
          <p:cNvSpPr txBox="1"/>
          <p:nvPr/>
        </p:nvSpPr>
        <p:spPr>
          <a:xfrm>
            <a:off x="1487277" y="4671152"/>
            <a:ext cx="6874525" cy="1703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Performed t-test compared the two independent samples.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Got p-value&lt; 0.05(reject null hypothesis)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Significant difference in average ratings between expensive and cheap mobiles.</a:t>
            </a:r>
            <a:endParaRPr lang="en-IN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91738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C5B8D7F-7F2D-198C-9407-92C2E7B8642A}"/>
              </a:ext>
            </a:extLst>
          </p:cNvPr>
          <p:cNvSpPr txBox="1"/>
          <p:nvPr/>
        </p:nvSpPr>
        <p:spPr>
          <a:xfrm>
            <a:off x="4054207" y="187287"/>
            <a:ext cx="69075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n w="22225">
                  <a:solidFill>
                    <a:srgbClr val="FFFF00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Arial Black" panose="020B0A04020102020204" pitchFamily="34" charset="0"/>
              </a:rPr>
              <a:t>EDA</a:t>
            </a:r>
            <a:endParaRPr lang="en-IN" sz="4800" b="1" dirty="0">
              <a:ln w="22225">
                <a:solidFill>
                  <a:srgbClr val="FFFF00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Arial Black" panose="020B0A0402010202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E545AB2-2388-E078-96A6-5987865CF8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691" y="272279"/>
            <a:ext cx="3310770" cy="2719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F2830DE6-9D73-01C2-900D-CEE6B00A03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881" y="3429000"/>
            <a:ext cx="3571120" cy="3016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D5D97A76-86DC-37D5-4499-40F5E65973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9624" y="1395212"/>
            <a:ext cx="6520781" cy="4241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97983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025E392B-DFB7-1E2F-385F-1A8AB054C8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057" y="3726099"/>
            <a:ext cx="3578030" cy="2806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12BEEE16-4031-5736-EF51-E92932B2B4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430762"/>
            <a:ext cx="4116636" cy="310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8FA1449-867B-3693-BE2D-FA638CB26C83}"/>
              </a:ext>
            </a:extLst>
          </p:cNvPr>
          <p:cNvSpPr txBox="1"/>
          <p:nvPr/>
        </p:nvSpPr>
        <p:spPr>
          <a:xfrm>
            <a:off x="2925840" y="66101"/>
            <a:ext cx="83067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n>
                  <a:solidFill>
                    <a:srgbClr val="FFFF00"/>
                  </a:solidFill>
                </a:ln>
                <a:solidFill>
                  <a:schemeClr val="accent2"/>
                </a:solidFill>
                <a:latin typeface="Arial Black" panose="020B0A04020102020204" pitchFamily="34" charset="0"/>
              </a:rPr>
              <a:t>Unsupervised Learning</a:t>
            </a:r>
            <a:endParaRPr lang="en-IN" sz="4000" dirty="0">
              <a:ln>
                <a:solidFill>
                  <a:srgbClr val="FFFF00"/>
                </a:solidFill>
              </a:ln>
              <a:solidFill>
                <a:schemeClr val="accent2"/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C0B4DA-340A-4403-E672-2D60AD492994}"/>
              </a:ext>
            </a:extLst>
          </p:cNvPr>
          <p:cNvSpPr txBox="1"/>
          <p:nvPr/>
        </p:nvSpPr>
        <p:spPr>
          <a:xfrm>
            <a:off x="2925840" y="1002535"/>
            <a:ext cx="8212213" cy="1703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</a:rPr>
              <a:t>Performed K-means clustering to group the mobiles based on the price, Rating, number of reviews.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</a:rPr>
              <a:t>Performed elbow method to determine the optimal number of clusters.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</a:rPr>
              <a:t>And created new column to label the each product to its group.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88034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2FB17A6-572E-73A4-F7B3-3D265B319B61}"/>
              </a:ext>
            </a:extLst>
          </p:cNvPr>
          <p:cNvSpPr txBox="1"/>
          <p:nvPr/>
        </p:nvSpPr>
        <p:spPr>
          <a:xfrm>
            <a:off x="4076241" y="0"/>
            <a:ext cx="6103344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n>
                  <a:solidFill>
                    <a:srgbClr val="FFFF00"/>
                  </a:solidFill>
                </a:ln>
                <a:solidFill>
                  <a:schemeClr val="accent2"/>
                </a:solidFill>
                <a:latin typeface="Arial Black" panose="020B0A04020102020204" pitchFamily="34" charset="0"/>
              </a:rPr>
              <a:t>supervised Learning</a:t>
            </a:r>
            <a:endParaRPr lang="en-IN" sz="4000" dirty="0">
              <a:ln>
                <a:solidFill>
                  <a:srgbClr val="FFFF00"/>
                </a:solidFill>
              </a:ln>
              <a:solidFill>
                <a:schemeClr val="accent2"/>
              </a:solidFill>
              <a:latin typeface="Arial Black" panose="020B0A04020102020204" pitchFamily="34" charset="0"/>
            </a:endParaRP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15A0C6-5539-656E-E04C-CDBB30F8120E}"/>
              </a:ext>
            </a:extLst>
          </p:cNvPr>
          <p:cNvSpPr txBox="1"/>
          <p:nvPr/>
        </p:nvSpPr>
        <p:spPr>
          <a:xfrm>
            <a:off x="3070034" y="742514"/>
            <a:ext cx="9121966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In the supervised learning , implemented various classification algorithms to predict mobile phone categories based on features.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The algorithms,  </a:t>
            </a:r>
            <a:r>
              <a:rPr lang="en-US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Logistic Regression</a:t>
            </a:r>
            <a:r>
              <a:rPr 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, </a:t>
            </a:r>
            <a:r>
              <a:rPr lang="en-US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Support Vector Machine (</a:t>
            </a:r>
            <a:r>
              <a:rPr lang="en-US" b="1" dirty="0" err="1">
                <a:solidFill>
                  <a:schemeClr val="accent2">
                    <a:lumMod val="20000"/>
                    <a:lumOff val="80000"/>
                  </a:schemeClr>
                </a:solidFill>
              </a:rPr>
              <a:t>SVM</a:t>
            </a:r>
            <a:r>
              <a:rPr lang="en-US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)</a:t>
            </a:r>
            <a:r>
              <a:rPr 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, </a:t>
            </a:r>
            <a:r>
              <a:rPr lang="en-US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K-Nearest Neighbors (KNN)</a:t>
            </a:r>
            <a:r>
              <a:rPr 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, </a:t>
            </a:r>
            <a:r>
              <a:rPr lang="en-US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Random Forest</a:t>
            </a:r>
            <a:r>
              <a:rPr 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, and </a:t>
            </a:r>
            <a:r>
              <a:rPr lang="en-US" b="1" dirty="0" err="1">
                <a:solidFill>
                  <a:schemeClr val="accent2">
                    <a:lumMod val="20000"/>
                    <a:lumOff val="80000"/>
                  </a:schemeClr>
                </a:solidFill>
              </a:rPr>
              <a:t>XGBoost</a:t>
            </a:r>
            <a:r>
              <a:rPr 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Compared the accuracy, precision, recall, </a:t>
            </a:r>
            <a:r>
              <a:rPr lang="en-US" dirty="0" err="1">
                <a:solidFill>
                  <a:schemeClr val="accent2">
                    <a:lumMod val="20000"/>
                    <a:lumOff val="80000"/>
                  </a:schemeClr>
                </a:solidFill>
              </a:rPr>
              <a:t>F1</a:t>
            </a:r>
            <a:r>
              <a:rPr 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-score to identify the best model.</a:t>
            </a:r>
          </a:p>
          <a:p>
            <a:endParaRPr lang="en-IN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88052BA0-7C65-153D-5645-6BAB3228C5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0034" y="3274764"/>
            <a:ext cx="6698255" cy="3379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72354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57CE3BF-5B3D-C82A-03BE-D107FFD3D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10</a:t>
            </a:fld>
            <a:endParaRPr lang="en-US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46228B-C75B-6925-1BD9-24833143492C}"/>
              </a:ext>
            </a:extLst>
          </p:cNvPr>
          <p:cNvSpPr txBox="1"/>
          <p:nvPr/>
        </p:nvSpPr>
        <p:spPr>
          <a:xfrm>
            <a:off x="0" y="99152"/>
            <a:ext cx="84058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n>
                  <a:solidFill>
                    <a:srgbClr val="FFFF00"/>
                  </a:solidFill>
                </a:ln>
                <a:solidFill>
                  <a:schemeClr val="accent2"/>
                </a:solidFill>
                <a:latin typeface="Arial Black" panose="020B0A04020102020204" pitchFamily="34" charset="0"/>
              </a:rPr>
              <a:t>Hyperparameter Tuning</a:t>
            </a:r>
            <a:endParaRPr lang="en-IN" sz="4000" dirty="0">
              <a:ln>
                <a:solidFill>
                  <a:srgbClr val="FFFF00"/>
                </a:solidFill>
              </a:ln>
              <a:solidFill>
                <a:schemeClr val="accent2"/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D643F2-A35E-5487-156C-32D23A92B7D3}"/>
              </a:ext>
            </a:extLst>
          </p:cNvPr>
          <p:cNvSpPr txBox="1"/>
          <p:nvPr/>
        </p:nvSpPr>
        <p:spPr>
          <a:xfrm>
            <a:off x="903383" y="1178805"/>
            <a:ext cx="9340212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</a:rPr>
              <a:t>In Logistic regression: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C = 10 → The model allows less regularization, giving more flexibility to fit the data.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penalty = '</a:t>
            </a:r>
            <a:r>
              <a:rPr lang="en-US" dirty="0" err="1">
                <a:solidFill>
                  <a:schemeClr val="bg1"/>
                </a:solidFill>
              </a:rPr>
              <a:t>l2</a:t>
            </a:r>
            <a:r>
              <a:rPr lang="en-US" dirty="0">
                <a:solidFill>
                  <a:schemeClr val="bg1"/>
                </a:solidFill>
              </a:rPr>
              <a:t>' → Uses Ridge regularization to prevent overfitting.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solver = '</a:t>
            </a:r>
            <a:r>
              <a:rPr lang="en-US" dirty="0" err="1">
                <a:solidFill>
                  <a:schemeClr val="bg1"/>
                </a:solidFill>
              </a:rPr>
              <a:t>lbfgs</a:t>
            </a:r>
            <a:r>
              <a:rPr lang="en-US" dirty="0">
                <a:solidFill>
                  <a:schemeClr val="bg1"/>
                </a:solidFill>
              </a:rPr>
              <a:t>' → Optimization algorithm suitable for small-to-medium datasets.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cross-validation score = 0.99 → The model was highly accurate on unseen data.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19AE89-CA38-0D3C-7758-36EE6678F713}"/>
              </a:ext>
            </a:extLst>
          </p:cNvPr>
          <p:cNvSpPr txBox="1"/>
          <p:nvPr/>
        </p:nvSpPr>
        <p:spPr>
          <a:xfrm>
            <a:off x="903383" y="3452753"/>
            <a:ext cx="9942095" cy="2723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In KNN: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neighbors = 9 → The model considers the </a:t>
            </a:r>
            <a:r>
              <a:rPr lang="en-US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9 closest neighbors</a:t>
            </a:r>
            <a:r>
              <a:rPr 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 for classification.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weights = 'distance' → Closer neighbors </a:t>
            </a:r>
            <a:r>
              <a:rPr lang="en-US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have more influence</a:t>
            </a:r>
            <a:r>
              <a:rPr 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 on the prediction.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algorithm = 'auto' → Automatically selects the best algorithm for computing nearest neighbors.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metric = '</a:t>
            </a:r>
            <a:r>
              <a:rPr lang="en-US" dirty="0" err="1">
                <a:solidFill>
                  <a:schemeClr val="accent2">
                    <a:lumMod val="20000"/>
                    <a:lumOff val="80000"/>
                  </a:schemeClr>
                </a:solidFill>
              </a:rPr>
              <a:t>euclidean</a:t>
            </a:r>
            <a:r>
              <a:rPr 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' → Euclidean distance to measure closeness between points.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Best cross-validation score = 0.9 → KNN performing well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2554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Placeholder 19" descr="Triangular pattern design with dimension">
            <a:extLst>
              <a:ext uri="{FF2B5EF4-FFF2-40B4-BE49-F238E27FC236}">
                <a16:creationId xmlns:a16="http://schemas.microsoft.com/office/drawing/2014/main" id="{3DCA2B8E-64D3-7645-8DEB-688ED5756F52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5179" y="4568103"/>
            <a:ext cx="12192002" cy="2289897"/>
          </a:xfr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F478C69-0A1D-45FF-8600-ED903803F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139118A-F3CA-0ABF-1426-7CD85055D134}"/>
              </a:ext>
            </a:extLst>
          </p:cNvPr>
          <p:cNvSpPr txBox="1"/>
          <p:nvPr/>
        </p:nvSpPr>
        <p:spPr>
          <a:xfrm>
            <a:off x="937549" y="277792"/>
            <a:ext cx="42594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n>
                  <a:solidFill>
                    <a:srgbClr val="FFFF00"/>
                  </a:solidFill>
                </a:ln>
                <a:solidFill>
                  <a:schemeClr val="accent2">
                    <a:lumMod val="20000"/>
                    <a:lumOff val="80000"/>
                  </a:schemeClr>
                </a:solidFill>
                <a:latin typeface="Arial Black" panose="020B0A04020102020204" pitchFamily="34" charset="0"/>
              </a:rPr>
              <a:t>Key insights</a:t>
            </a:r>
            <a:endParaRPr lang="en-IN" sz="4000" dirty="0">
              <a:ln>
                <a:solidFill>
                  <a:srgbClr val="FFFF00"/>
                </a:solidFill>
              </a:ln>
              <a:solidFill>
                <a:schemeClr val="accent2">
                  <a:lumMod val="20000"/>
                  <a:lumOff val="80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22475F5-3405-C69F-80A5-207A6E41965E}"/>
              </a:ext>
            </a:extLst>
          </p:cNvPr>
          <p:cNvSpPr txBox="1"/>
          <p:nvPr/>
        </p:nvSpPr>
        <p:spPr>
          <a:xfrm>
            <a:off x="581627" y="1428782"/>
            <a:ext cx="1107697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Expensive mobiles (&gt; ₹20,000) tend to have significantly higher ratings than cheaper ones.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K-Means clustering identified three distinct groups of mobiles based on price, ratings, and number of reviews.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Random Forest algorithm got both accuracy and Fl-score highly.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Hyperparameter tuning improved model performance, and features like price, ratings, and reviews were key predictors.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1187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707141"/>
          </a:xfrm>
        </p:spPr>
        <p:txBody>
          <a:bodyPr/>
          <a:lstStyle/>
          <a:p>
            <a:r>
              <a:rPr lang="en-US" dirty="0">
                <a:ln>
                  <a:solidFill>
                    <a:srgbClr val="FFFF00"/>
                  </a:solidFill>
                </a:ln>
                <a:solidFill>
                  <a:schemeClr val="accent2">
                    <a:lumMod val="20000"/>
                    <a:lumOff val="80000"/>
                  </a:schemeClr>
                </a:solidFill>
                <a:latin typeface="Arial Black" panose="020B0A04020102020204" pitchFamily="34" charset="0"/>
              </a:rPr>
              <a:t>Conclusion</a:t>
            </a:r>
            <a:br>
              <a:rPr lang="en-IN" dirty="0">
                <a:ln>
                  <a:solidFill>
                    <a:srgbClr val="FFFF00"/>
                  </a:solidFill>
                </a:ln>
                <a:solidFill>
                  <a:schemeClr val="accent2">
                    <a:lumMod val="20000"/>
                    <a:lumOff val="80000"/>
                  </a:schemeClr>
                </a:solidFill>
                <a:latin typeface="Arial Black" panose="020B0A04020102020204" pitchFamily="34" charset="0"/>
              </a:rPr>
            </a:br>
            <a:endParaRPr lang="en-US" dirty="0"/>
          </a:p>
        </p:txBody>
      </p:sp>
      <p:pic>
        <p:nvPicPr>
          <p:cNvPr id="8" name="Picture Placeholder 7" descr="Triangular pattern design with dimension">
            <a:extLst>
              <a:ext uri="{FF2B5EF4-FFF2-40B4-BE49-F238E27FC236}">
                <a16:creationId xmlns:a16="http://schemas.microsoft.com/office/drawing/2014/main" id="{2301248D-7370-7643-9BE6-F8CDCFF4D460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4568103"/>
            <a:ext cx="12192002" cy="2289897"/>
          </a:xfr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AC2D367-2A6E-41FE-A9EA-24FF17BCA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156601-349C-3DB3-D9B5-3F115D204DC4}"/>
              </a:ext>
            </a:extLst>
          </p:cNvPr>
          <p:cNvSpPr txBox="1"/>
          <p:nvPr/>
        </p:nvSpPr>
        <p:spPr>
          <a:xfrm>
            <a:off x="636608" y="1574157"/>
            <a:ext cx="9745883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Scraped the data from Flipkart using beautiful soup. Performed data cleaning process , statistical Analysis, unsupervised learning , supervised learning and performed hyperparameter tuning identify the trends of real-world dataset. There is a strong relationship between price and ratings, with clustering revealing clear market segments. Random forest best for predicting mobile dataset.</a:t>
            </a:r>
          </a:p>
          <a:p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3103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66687569_Modern blue presentation_AAS_v5" id="{C7B59113-CD15-4341-96CA-86E715D5BE98}" vid="{5A8FDAEB-3DF3-4B3C-A708-49813F8D6F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5757914-1161-4661-9696-421FD6935CDD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5B26E0C9-B2AA-42E6-97B6-E1B7D9EAF12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C103400-4A22-4E35-B588-4C4D426389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blue presentation</Template>
  <TotalTime>205</TotalTime>
  <Words>548</Words>
  <Application>Microsoft Office PowerPoint</Application>
  <PresentationFormat>Widescreen</PresentationFormat>
  <Paragraphs>57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Arial Black</vt:lpstr>
      <vt:lpstr>Calibri</vt:lpstr>
      <vt:lpstr>Trade Gothic LT Pro</vt:lpstr>
      <vt:lpstr>Trebuchet MS</vt:lpstr>
      <vt:lpstr>Wingdings</vt:lpstr>
      <vt:lpstr>Office Theme</vt:lpstr>
      <vt:lpstr>CAPSTONE PROJECT</vt:lpstr>
      <vt:lpstr>PowerPoint Presentation</vt:lpstr>
      <vt:lpstr>PowerPoint Presentation</vt:lpstr>
      <vt:lpstr>PowerPoint Presentation</vt:lpstr>
      <vt:lpstr>Removed Outliers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ls dryflower</dc:creator>
  <cp:lastModifiedBy>ls dryflower</cp:lastModifiedBy>
  <cp:revision>4</cp:revision>
  <dcterms:created xsi:type="dcterms:W3CDTF">2025-10-17T06:50:17Z</dcterms:created>
  <dcterms:modified xsi:type="dcterms:W3CDTF">2025-10-17T10:16:17Z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